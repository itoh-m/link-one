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rIPhv3qQN1CGAY4pUNTWCDOnf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ロゴ, 会社名&#10;&#10;AI 生成コンテンツは誤りを含む可能性があります。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143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ロゴ, 会社名&#10;&#10;AI 生成コンテンツは誤りを含む可能性があります。" id="89" name="Google Shape;89;p2"/>
          <p:cNvPicPr preferRelativeResize="0"/>
          <p:nvPr/>
        </p:nvPicPr>
        <p:blipFill rotWithShape="1">
          <a:blip r:embed="rId3">
            <a:alphaModFix/>
          </a:blip>
          <a:srcRect b="35555" l="3968" r="68413" t="29048"/>
          <a:stretch/>
        </p:blipFill>
        <p:spPr>
          <a:xfrm>
            <a:off x="10210199" y="0"/>
            <a:ext cx="369480" cy="473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ロゴ, 会社名&#10;&#10;AI 生成コンテンツは誤りを含む可能性があります。" id="90" name="Google Shape;90;p2"/>
          <p:cNvPicPr preferRelativeResize="0"/>
          <p:nvPr/>
        </p:nvPicPr>
        <p:blipFill rotWithShape="1">
          <a:blip r:embed="rId3">
            <a:alphaModFix/>
          </a:blip>
          <a:srcRect b="42540" l="32063" r="7616" t="42063"/>
          <a:stretch/>
        </p:blipFill>
        <p:spPr>
          <a:xfrm>
            <a:off x="10579679" y="46264"/>
            <a:ext cx="1492577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2"/>
          <p:cNvCxnSpPr/>
          <p:nvPr/>
        </p:nvCxnSpPr>
        <p:spPr>
          <a:xfrm>
            <a:off x="0" y="482128"/>
            <a:ext cx="12192000" cy="46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2"/>
          <p:cNvSpPr txBox="1"/>
          <p:nvPr/>
        </p:nvSpPr>
        <p:spPr>
          <a:xfrm>
            <a:off x="119744" y="10204"/>
            <a:ext cx="3493008" cy="47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LinkOne とは</a:t>
            </a:r>
            <a:endParaRPr b="1" i="0" sz="2400" u="none" cap="none" strike="noStrik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46304" y="945452"/>
            <a:ext cx="119259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特定の国・地域・農園のスペシャルティコーヒー生豆を専門的に輸入・販売している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企業・個人のグループ活動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04105" y="2493733"/>
            <a:ext cx="11625926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１．株式会社Mirai Seeds　ブラジル・グアリロバ農園オフィシャルパートナー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04105" y="2981885"/>
            <a:ext cx="11625926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２．Brisa and Tierra　パナマ専門商社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204105" y="1857848"/>
            <a:ext cx="3492900" cy="5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現在の参加企業</a:t>
            </a:r>
            <a:endParaRPr b="1" i="0" sz="2400" u="none" cap="none" strike="noStrik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204105" y="3958189"/>
            <a:ext cx="11625926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４．PuraVida　コスタリカ専門商社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204105" y="3470037"/>
            <a:ext cx="11625926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３．ORIOWL株式会社　台湾珈琲専門商社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04105" y="4446342"/>
            <a:ext cx="1162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５．株式会社Rational Idea</a:t>
            </a:r>
            <a:r>
              <a:rPr lang="en-US" sz="1800">
                <a:solidFill>
                  <a:schemeClr val="dk1"/>
                </a:solidFill>
              </a:rPr>
              <a:t>    </a:t>
            </a:r>
            <a:r>
              <a:rPr lang="en-US" sz="1800">
                <a:solidFill>
                  <a:schemeClr val="dk1"/>
                </a:solidFill>
              </a:rPr>
              <a:t>インドネシア専門商社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（Asosiasi Kopi Indonesia | Indonesia Coffee Association日本総代理店）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ロゴ, 会社名&#10;&#10;AI 生成コンテンツは誤りを含む可能性があります。" id="104" name="Google Shape;104;p3"/>
          <p:cNvPicPr preferRelativeResize="0"/>
          <p:nvPr/>
        </p:nvPicPr>
        <p:blipFill rotWithShape="1">
          <a:blip r:embed="rId3">
            <a:alphaModFix/>
          </a:blip>
          <a:srcRect b="35555" l="3968" r="68413" t="29048"/>
          <a:stretch/>
        </p:blipFill>
        <p:spPr>
          <a:xfrm>
            <a:off x="10210199" y="0"/>
            <a:ext cx="369480" cy="473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ロゴ, 会社名&#10;&#10;AI 生成コンテンツは誤りを含む可能性があります。" id="105" name="Google Shape;105;p3"/>
          <p:cNvPicPr preferRelativeResize="0"/>
          <p:nvPr/>
        </p:nvPicPr>
        <p:blipFill rotWithShape="1">
          <a:blip r:embed="rId3">
            <a:alphaModFix/>
          </a:blip>
          <a:srcRect b="42540" l="32063" r="7616" t="42063"/>
          <a:stretch/>
        </p:blipFill>
        <p:spPr>
          <a:xfrm>
            <a:off x="10579679" y="46264"/>
            <a:ext cx="1492577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3"/>
          <p:cNvCxnSpPr/>
          <p:nvPr/>
        </p:nvCxnSpPr>
        <p:spPr>
          <a:xfrm>
            <a:off x="0" y="482128"/>
            <a:ext cx="12192000" cy="46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3"/>
          <p:cNvSpPr txBox="1"/>
          <p:nvPr/>
        </p:nvSpPr>
        <p:spPr>
          <a:xfrm>
            <a:off x="156972" y="749291"/>
            <a:ext cx="11878056" cy="5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MISSION（使命）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56972" y="3500374"/>
            <a:ext cx="11878056" cy="5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VISION（目指す姿）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56972" y="113884"/>
            <a:ext cx="6108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MISSION・VISION・VALUE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56972" y="1304586"/>
            <a:ext cx="11878056" cy="1494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つながりで、世界のユニークな一杯を届ける。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私たちは、世界各国の優れたインポーターが連携することで、持続可能で利益ある輸入活動を実現し、ロースターの利便性を高め、高品質でユニークなコーヒーを日本の消費者に届けます。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56972" y="4119765"/>
            <a:ext cx="11878056" cy="1494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『競争から共創へ、』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コーヒーの未来を、共に創る。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世界のスペシャルティコーヒーを結ぶ“ひとつのネットワーク”として、産地・輸入者・ロースター・消費者すべてに価値をもたらす持続可能な流通のモデルとなる。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ロゴ, 会社名&#10;&#10;AI 生成コンテンツは誤りを含む可能性があります。" id="116" name="Google Shape;116;p4"/>
          <p:cNvPicPr preferRelativeResize="0"/>
          <p:nvPr/>
        </p:nvPicPr>
        <p:blipFill rotWithShape="1">
          <a:blip r:embed="rId3">
            <a:alphaModFix/>
          </a:blip>
          <a:srcRect b="35555" l="3968" r="68413" t="29048"/>
          <a:stretch/>
        </p:blipFill>
        <p:spPr>
          <a:xfrm>
            <a:off x="10210199" y="0"/>
            <a:ext cx="369480" cy="473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ロゴ, 会社名&#10;&#10;AI 生成コンテンツは誤りを含む可能性があります。" id="117" name="Google Shape;117;p4"/>
          <p:cNvPicPr preferRelativeResize="0"/>
          <p:nvPr/>
        </p:nvPicPr>
        <p:blipFill rotWithShape="1">
          <a:blip r:embed="rId3">
            <a:alphaModFix/>
          </a:blip>
          <a:srcRect b="42540" l="32063" r="7616" t="42063"/>
          <a:stretch/>
        </p:blipFill>
        <p:spPr>
          <a:xfrm>
            <a:off x="10579679" y="46264"/>
            <a:ext cx="1492577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4"/>
          <p:cNvCxnSpPr/>
          <p:nvPr/>
        </p:nvCxnSpPr>
        <p:spPr>
          <a:xfrm>
            <a:off x="0" y="482128"/>
            <a:ext cx="12192000" cy="46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4"/>
          <p:cNvSpPr txBox="1"/>
          <p:nvPr/>
        </p:nvSpPr>
        <p:spPr>
          <a:xfrm>
            <a:off x="298080" y="772315"/>
            <a:ext cx="11634276" cy="5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VALUES（価値観）</a:t>
            </a:r>
            <a:endParaRPr b="1" i="0" sz="2400" u="none" cap="none" strike="noStrik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56972" y="113884"/>
            <a:ext cx="6108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MISSION・VISION・VALUE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278862" y="1454285"/>
            <a:ext cx="11634276" cy="4852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Link（つながり）</a:t>
            </a:r>
            <a:b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協力関係を大切にし、知識・情報・利益を共有します。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Integrity（誠実さ）</a:t>
            </a:r>
            <a:b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誠実で透明な取引を通じて、信頼される存在であり続けます。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Sustainability（持続可能性）</a:t>
            </a:r>
            <a:b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環境・人・文化を尊重し、持続可能なコーヒー産業を支えます。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Uniqueness（個性）</a:t>
            </a:r>
            <a:b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各社の専門性と、産地の個性を活かしたユニークな価値を届けます。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Customer-Centric（顧客志向）</a:t>
            </a:r>
            <a:b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ロースターの利便性と選択肢を広げ、顧客体験の向上を追求します。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ロゴ, 会社名&#10;&#10;AI 生成コンテンツは誤りを含む可能性があります。" id="126" name="Google Shape;126;p5"/>
          <p:cNvPicPr preferRelativeResize="0"/>
          <p:nvPr/>
        </p:nvPicPr>
        <p:blipFill rotWithShape="1">
          <a:blip r:embed="rId3">
            <a:alphaModFix/>
          </a:blip>
          <a:srcRect b="35555" l="3968" r="68413" t="29048"/>
          <a:stretch/>
        </p:blipFill>
        <p:spPr>
          <a:xfrm>
            <a:off x="10210199" y="0"/>
            <a:ext cx="369480" cy="473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ロゴ, 会社名&#10;&#10;AI 生成コンテンツは誤りを含む可能性があります。" id="127" name="Google Shape;127;p5"/>
          <p:cNvPicPr preferRelativeResize="0"/>
          <p:nvPr/>
        </p:nvPicPr>
        <p:blipFill rotWithShape="1">
          <a:blip r:embed="rId3">
            <a:alphaModFix/>
          </a:blip>
          <a:srcRect b="42540" l="32063" r="7616" t="42063"/>
          <a:stretch/>
        </p:blipFill>
        <p:spPr>
          <a:xfrm>
            <a:off x="10579679" y="46264"/>
            <a:ext cx="1492577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5"/>
          <p:cNvCxnSpPr/>
          <p:nvPr/>
        </p:nvCxnSpPr>
        <p:spPr>
          <a:xfrm>
            <a:off x="0" y="482128"/>
            <a:ext cx="12192000" cy="46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5"/>
          <p:cNvSpPr txBox="1"/>
          <p:nvPr/>
        </p:nvSpPr>
        <p:spPr>
          <a:xfrm>
            <a:off x="156972" y="113884"/>
            <a:ext cx="6108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LinkOne 活動内容</a:t>
            </a:r>
            <a:endParaRPr b="1" i="0" sz="1800" u="none" cap="none" strike="noStrike">
              <a:solidFill>
                <a:srgbClr val="1F5C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252921" y="702038"/>
            <a:ext cx="11915284" cy="4950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1. 合同カッピングの実施</a:t>
            </a:r>
            <a:endParaRPr b="1" i="0" sz="2000" u="none" cap="none" strike="noStrik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ロースター向けに複数インポーターが一堂に会する合同カッピングを開催。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顧客の共有による新規接点の創出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各社の出展負担軽減による経費の効率化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多彩な産地が集まることでイベントとしての魅力アップ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ロースター側の利便性向上（比較・検討しやすい）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2. 合同での展示会出展</a:t>
            </a:r>
            <a:endParaRPr b="1" i="0" sz="2000" u="none" cap="none" strike="noStrik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各地のコーヒー・食品系展示会にLinkOneとして出展。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ブースの視認性・印象強化（ブランド認知向上）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出展費用・人的負担のシェアによる効率化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ロースターとの接点拡大と共同アピール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展示とカッピングを連動した体験設計も可能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ロゴ, 会社名&#10;&#10;AI 生成コンテンツは誤りを含む可能性があります。" id="135" name="Google Shape;135;p6"/>
          <p:cNvPicPr preferRelativeResize="0"/>
          <p:nvPr/>
        </p:nvPicPr>
        <p:blipFill rotWithShape="1">
          <a:blip r:embed="rId3">
            <a:alphaModFix/>
          </a:blip>
          <a:srcRect b="35555" l="3968" r="68413" t="29048"/>
          <a:stretch/>
        </p:blipFill>
        <p:spPr>
          <a:xfrm>
            <a:off x="10210199" y="0"/>
            <a:ext cx="369480" cy="473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ロゴ, 会社名&#10;&#10;AI 生成コンテンツは誤りを含む可能性があります。" id="136" name="Google Shape;136;p6"/>
          <p:cNvPicPr preferRelativeResize="0"/>
          <p:nvPr/>
        </p:nvPicPr>
        <p:blipFill rotWithShape="1">
          <a:blip r:embed="rId3">
            <a:alphaModFix/>
          </a:blip>
          <a:srcRect b="42540" l="32063" r="7616" t="42063"/>
          <a:stretch/>
        </p:blipFill>
        <p:spPr>
          <a:xfrm>
            <a:off x="10579679" y="46264"/>
            <a:ext cx="1492577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6"/>
          <p:cNvCxnSpPr/>
          <p:nvPr/>
        </p:nvCxnSpPr>
        <p:spPr>
          <a:xfrm>
            <a:off x="0" y="482128"/>
            <a:ext cx="12192000" cy="46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6"/>
          <p:cNvSpPr txBox="1"/>
          <p:nvPr/>
        </p:nvSpPr>
        <p:spPr>
          <a:xfrm>
            <a:off x="156972" y="113884"/>
            <a:ext cx="6108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LinkOne 活動内容</a:t>
            </a:r>
            <a:endParaRPr b="1" i="0" sz="1800" u="none" cap="none" strike="noStrike">
              <a:solidFill>
                <a:srgbClr val="1F5C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238273" y="668266"/>
            <a:ext cx="11915284" cy="1862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3. ノウハウ・情報の共有</a:t>
            </a:r>
            <a:endParaRPr b="1" i="0" sz="2000" u="none" cap="none" strike="noStrik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日々変化するマーケットや物流、品質管理の知見を持ち寄る場を提供。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各社の強みを活かした勉強会・情報交換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輸入実務、品質、マーケティングなどのベストプラクティス共有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新規国・生産者とのつながり構築に向けた共同リサーチも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238273" y="4852239"/>
            <a:ext cx="9160202" cy="1508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活動を通じて目指すもの</a:t>
            </a:r>
            <a:endParaRPr b="1" i="0" sz="2000" u="none" cap="none" strike="noStrik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インポーター同士の「共創」による利益と発信力の最大化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ロースターにとって「探しやすく・選びやすい」体験の提供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持続可能なスペシャルティコーヒー流通の新しいモデルづくり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238273" y="2632018"/>
            <a:ext cx="119154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4F81BD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4. 共通SNS・WEBを活用した発信</a:t>
            </a:r>
            <a:endParaRPr b="1" i="0" sz="2000" u="none" cap="none" strike="noStrik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LinkOneブランドとして、ロースターやエンドユーザーとのつながりを創出。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Instagram・Webサイトを通じた認知と発信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各社の商品・活動のクロス紹介（相互露出）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イベント情報や豆の紹介を通じたブランド信頼の構築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ロゴ, 会社名&#10;&#10;AI 生成コンテンツは誤りを含む可能性があります。" id="146" name="Google Shape;146;p7"/>
          <p:cNvPicPr preferRelativeResize="0"/>
          <p:nvPr/>
        </p:nvPicPr>
        <p:blipFill rotWithShape="1">
          <a:blip r:embed="rId3">
            <a:alphaModFix/>
          </a:blip>
          <a:srcRect b="35555" l="3968" r="68413" t="29048"/>
          <a:stretch/>
        </p:blipFill>
        <p:spPr>
          <a:xfrm>
            <a:off x="10210199" y="0"/>
            <a:ext cx="369480" cy="473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ロゴ, 会社名&#10;&#10;AI 生成コンテンツは誤りを含む可能性があります。" id="147" name="Google Shape;147;p7"/>
          <p:cNvPicPr preferRelativeResize="0"/>
          <p:nvPr/>
        </p:nvPicPr>
        <p:blipFill rotWithShape="1">
          <a:blip r:embed="rId3">
            <a:alphaModFix/>
          </a:blip>
          <a:srcRect b="42540" l="32063" r="7616" t="42063"/>
          <a:stretch/>
        </p:blipFill>
        <p:spPr>
          <a:xfrm>
            <a:off x="10579679" y="46264"/>
            <a:ext cx="1492577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7"/>
          <p:cNvCxnSpPr/>
          <p:nvPr/>
        </p:nvCxnSpPr>
        <p:spPr>
          <a:xfrm>
            <a:off x="0" y="482128"/>
            <a:ext cx="12192000" cy="46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7"/>
          <p:cNvSpPr txBox="1"/>
          <p:nvPr/>
        </p:nvSpPr>
        <p:spPr>
          <a:xfrm>
            <a:off x="156972" y="113884"/>
            <a:ext cx="6108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参加条件</a:t>
            </a:r>
            <a:endParaRPr b="1" i="0" sz="1800" u="none" cap="none" strike="noStrike">
              <a:solidFill>
                <a:srgbClr val="1F5C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56972" y="751344"/>
            <a:ext cx="11915284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※　必須条件（基本要件）</a:t>
            </a:r>
            <a:endParaRPr b="1" i="0" sz="2000" u="none" cap="none" strike="noStrike">
              <a:solidFill>
                <a:srgbClr val="1F5C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スペシャルティグレードのコーヒー生豆を扱っていること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– 高品質かつ差別化された豆を輸入・供給している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特定の国・地域における輸入の専門性を持っていること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– 産地との継続的な関係性や、現地の知見を持っている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自社で輸入業務を行っていること（直接または実質的に）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– 品質・トレーサビリティ・納期等に責任を持てる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LinkOneの活動（例：合同カッピング・展示会等）に協力する意思があること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– 出展や運営などを含め、グループとしての価値創出に参加する意欲がある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活動に伴う費用（イベント出展費、備品、Web運営等）を公平に分担すること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– 全員が負担・貢献することで、持続可能で健全な運営を実現します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（原則：実費を平等割り勘。ただし内容に応じて応相談）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156972" y="6206595"/>
            <a:ext cx="119152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※このグループは個別の活動を禁止するものではなく、各種イベントへの強制参加するものでもない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ロゴ, 会社名&#10;&#10;AI 生成コンテンツは誤りを含む可能性があります。" id="156" name="Google Shape;156;p8"/>
          <p:cNvPicPr preferRelativeResize="0"/>
          <p:nvPr/>
        </p:nvPicPr>
        <p:blipFill rotWithShape="1">
          <a:blip r:embed="rId3">
            <a:alphaModFix/>
          </a:blip>
          <a:srcRect b="35555" l="3968" r="68413" t="29048"/>
          <a:stretch/>
        </p:blipFill>
        <p:spPr>
          <a:xfrm>
            <a:off x="10210199" y="0"/>
            <a:ext cx="369480" cy="473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ロゴ, 会社名&#10;&#10;AI 生成コンテンツは誤りを含む可能性があります。" id="157" name="Google Shape;157;p8"/>
          <p:cNvPicPr preferRelativeResize="0"/>
          <p:nvPr/>
        </p:nvPicPr>
        <p:blipFill rotWithShape="1">
          <a:blip r:embed="rId3">
            <a:alphaModFix/>
          </a:blip>
          <a:srcRect b="42540" l="32063" r="7616" t="42063"/>
          <a:stretch/>
        </p:blipFill>
        <p:spPr>
          <a:xfrm>
            <a:off x="10579679" y="46264"/>
            <a:ext cx="1492577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8"/>
          <p:cNvCxnSpPr/>
          <p:nvPr/>
        </p:nvCxnSpPr>
        <p:spPr>
          <a:xfrm>
            <a:off x="0" y="482128"/>
            <a:ext cx="12192000" cy="46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8"/>
          <p:cNvSpPr txBox="1"/>
          <p:nvPr/>
        </p:nvSpPr>
        <p:spPr>
          <a:xfrm>
            <a:off x="156972" y="113884"/>
            <a:ext cx="6108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第一回目の活動（テスト活動）</a:t>
            </a:r>
            <a:endParaRPr b="1" i="0" sz="1800" u="none" cap="none" strike="noStrike">
              <a:solidFill>
                <a:srgbClr val="1F5C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156972" y="751344"/>
            <a:ext cx="11915284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合同カッピング会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開催予定日：2025年9月2８日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開催予定場所：UCCコーヒーアカデミー東京校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開催予定時間：午前部と午後部の２回開催（時間確認中）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カッピング予定回数：３回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概要：SCAJ2025開催期間を利用し、東京で第１回目のカッピング会を開始。初の試みのため、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問題点などの洗い出しと予想効果の確認、また今後の展開の共有。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予想費用：場所レンタル料金　5万　（4社参加の場合　約12,500円）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　　　　　備品使用料（水・器具など）　要確認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2025-07-22T12:37:50Z</dcterms:created>
  <dc:creator>健一 前田</dc:creator>
</cp:coreProperties>
</file>